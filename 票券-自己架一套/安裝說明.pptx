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1" r:id="rId7"/>
    <p:sldId id="262" r:id="rId8"/>
    <p:sldId id="263" r:id="rId9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B1B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777240"/>
            <a:ext cx="2697480" cy="420624"/>
          </a:xfrm>
          <a:prstGeom prst="roundRect">
            <a:avLst>
              <a:gd name="adj" fmla="val 50000"/>
            </a:avLst>
          </a:prstGeom>
          <a:solidFill>
            <a:srgbClr val="3B285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31520" y="777240"/>
            <a:ext cx="2697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9CC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票券 App｜安裝說明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4630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自己架一套「票券」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560320"/>
            <a:ext cx="6126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D9CC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截圖丟進去，自動讀出商家、到期日和序號；依到期日排好，還能挑幾張分享給朋友。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3840480"/>
            <a:ext cx="2011680" cy="914400"/>
          </a:xfrm>
          <a:prstGeom prst="roundRect">
            <a:avLst>
              <a:gd name="adj" fmla="val 14000"/>
            </a:avLst>
          </a:prstGeom>
          <a:solidFill>
            <a:srgbClr val="3B2857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60120" y="3959352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全部免費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4352544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D9CC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用免費方案就夠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926080" y="3840480"/>
            <a:ext cx="2011680" cy="914400"/>
          </a:xfrm>
          <a:prstGeom prst="roundRect">
            <a:avLst>
              <a:gd name="adj" fmla="val 14000"/>
            </a:avLst>
          </a:prstGeom>
          <a:solidFill>
            <a:srgbClr val="3B2857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154680" y="3959352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約 30 分鐘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3154680" y="4352544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D9CC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照著做一次就好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120640" y="3840480"/>
            <a:ext cx="2286000" cy="914400"/>
          </a:xfrm>
          <a:prstGeom prst="roundRect">
            <a:avLst>
              <a:gd name="adj" fmla="val 14000"/>
            </a:avLst>
          </a:prstGeom>
          <a:solidFill>
            <a:srgbClr val="3B2857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349240" y="395935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資料在你手上</a:t>
            </a:r>
            <a:endParaRPr lang="en-US" sz="1900" dirty="0"/>
          </a:p>
        </p:txBody>
      </p:sp>
      <p:sp>
        <p:nvSpPr>
          <p:cNvPr id="14" name="Text 12"/>
          <p:cNvSpPr txBox="1"/>
          <p:nvPr/>
        </p:nvSpPr>
        <p:spPr>
          <a:xfrm>
            <a:off x="5349240" y="4352544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D9CC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存在你的 Google 帳號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576072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B7A6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照順序做 3 大步，每一步都在電腦的瀏覽器裡完成</a:t>
            </a:r>
            <a:endParaRPr lang="en-US" sz="1300" dirty="0"/>
          </a:p>
        </p:txBody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06640" y="685800"/>
            <a:ext cx="2535185" cy="5486400"/>
          </a:xfrm>
          <a:prstGeom prst="rect">
            <a:avLst/>
          </a:prstGeom>
        </p:spPr>
      </p:pic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1051560"/>
            <a:ext cx="2366173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3200" b="1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它怎麼運作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5F586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全部用免費服務組起來；你的票券只放在你自己的 Google 帳號裡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3017520" y="2766060"/>
            <a:ext cx="411480" cy="914"/>
          </a:xfrm>
          <a:prstGeom prst="line">
            <a:avLst/>
          </a:prstGeom>
          <a:noFill/>
          <a:ln w="25400">
            <a:solidFill>
              <a:srgbClr val="B7A6D8"/>
            </a:solidFill>
            <a:prstDash val="solid"/>
            <a:tailEnd type="triangle"/>
          </a:ln>
        </p:spPr>
      </p:sp>
      <p:sp>
        <p:nvSpPr>
          <p:cNvPr id="5" name="Shape 3"/>
          <p:cNvSpPr/>
          <p:nvPr/>
        </p:nvSpPr>
        <p:spPr>
          <a:xfrm>
            <a:off x="6217920" y="2766060"/>
            <a:ext cx="411480" cy="914"/>
          </a:xfrm>
          <a:prstGeom prst="line">
            <a:avLst/>
          </a:prstGeom>
          <a:noFill/>
          <a:ln w="25400">
            <a:solidFill>
              <a:srgbClr val="B7A6D8"/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 flipV="1">
            <a:off x="9006840" y="2103120"/>
            <a:ext cx="502920" cy="411480"/>
          </a:xfrm>
          <a:prstGeom prst="line">
            <a:avLst/>
          </a:prstGeom>
          <a:noFill/>
          <a:ln w="25400">
            <a:solidFill>
              <a:srgbClr val="B7A6D8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9006840" y="3017520"/>
            <a:ext cx="502920" cy="411480"/>
          </a:xfrm>
          <a:prstGeom prst="line">
            <a:avLst/>
          </a:prstGeom>
          <a:noFill/>
          <a:ln w="25400">
            <a:solidFill>
              <a:srgbClr val="B7A6D8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9006840" y="3246120"/>
            <a:ext cx="502920" cy="1554480"/>
          </a:xfrm>
          <a:prstGeom prst="line">
            <a:avLst/>
          </a:prstGeom>
          <a:noFill/>
          <a:ln w="25400">
            <a:solidFill>
              <a:srgbClr val="B7A6D8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7818120" y="3383280"/>
            <a:ext cx="914" cy="822960"/>
          </a:xfrm>
          <a:prstGeom prst="line">
            <a:avLst/>
          </a:prstGeom>
          <a:noFill/>
          <a:ln w="25400">
            <a:solidFill>
              <a:srgbClr val="B7A6D8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 flipV="1">
            <a:off x="4823460" y="3383280"/>
            <a:ext cx="914" cy="822960"/>
          </a:xfrm>
          <a:prstGeom prst="line">
            <a:avLst/>
          </a:prstGeom>
          <a:noFill/>
          <a:ln w="25400">
            <a:solidFill>
              <a:srgbClr val="B7A6D8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548640" y="2148840"/>
            <a:ext cx="2468880" cy="1234440"/>
          </a:xfrm>
          <a:prstGeom prst="roundRect">
            <a:avLst>
              <a:gd name="adj" fmla="val 10370"/>
            </a:avLst>
          </a:prstGeom>
          <a:solidFill>
            <a:srgbClr val="F1EBFA"/>
          </a:solidFill>
          <a:ln w="12700">
            <a:solidFill>
              <a:srgbClr val="E4D9F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2510028"/>
            <a:ext cx="512064" cy="512064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9295" y="2627803"/>
            <a:ext cx="276515" cy="276515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1389888" y="2436876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你的手機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1389888" y="2784348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586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加到主畫面的 App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3429000" y="2148840"/>
            <a:ext cx="2788920" cy="1234440"/>
          </a:xfrm>
          <a:prstGeom prst="roundRect">
            <a:avLst>
              <a:gd name="adj" fmla="val 10370"/>
            </a:avLst>
          </a:prstGeom>
          <a:solidFill>
            <a:srgbClr val="F1EBFA"/>
          </a:solidFill>
          <a:ln w="12700">
            <a:solidFill>
              <a:srgbClr val="E4D9F5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3611880" y="2510028"/>
            <a:ext cx="512064" cy="512064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9655" y="2627803"/>
            <a:ext cx="276515" cy="276515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4270248" y="243687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Cloudflare Pages</a:t>
            </a:r>
            <a:endParaRPr lang="en-US" sz="1400" dirty="0"/>
          </a:p>
        </p:txBody>
      </p:sp>
      <p:sp>
        <p:nvSpPr>
          <p:cNvPr id="20" name="Text 16"/>
          <p:cNvSpPr txBox="1"/>
          <p:nvPr/>
        </p:nvSpPr>
        <p:spPr>
          <a:xfrm>
            <a:off x="4270248" y="2784348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586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放網站（web 資料夾）</a:t>
            </a:r>
            <a:endParaRPr lang="en-US" sz="1200" dirty="0"/>
          </a:p>
        </p:txBody>
      </p:sp>
      <p:sp>
        <p:nvSpPr>
          <p:cNvPr id="21" name="Shape 17"/>
          <p:cNvSpPr/>
          <p:nvPr/>
        </p:nvSpPr>
        <p:spPr>
          <a:xfrm>
            <a:off x="6629400" y="2148840"/>
            <a:ext cx="2377440" cy="1234440"/>
          </a:xfrm>
          <a:prstGeom prst="roundRect">
            <a:avLst>
              <a:gd name="adj" fmla="val 10370"/>
            </a:avLst>
          </a:prstGeom>
          <a:solidFill>
            <a:srgbClr val="F1EBFA"/>
          </a:solidFill>
          <a:ln w="12700">
            <a:solidFill>
              <a:srgbClr val="E4D9F5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812280" y="2510028"/>
            <a:ext cx="512064" cy="512064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30055" y="2627803"/>
            <a:ext cx="276515" cy="276515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7470648" y="2436876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Apps Script</a:t>
            </a:r>
            <a:endParaRPr lang="en-US" sz="1400" dirty="0"/>
          </a:p>
        </p:txBody>
      </p:sp>
      <p:sp>
        <p:nvSpPr>
          <p:cNvPr id="25" name="Text 20"/>
          <p:cNvSpPr txBox="1"/>
          <p:nvPr/>
        </p:nvSpPr>
        <p:spPr>
          <a:xfrm>
            <a:off x="7470648" y="278434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586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後端（Code.gs）</a:t>
            </a:r>
            <a:endParaRPr lang="en-US" sz="1200" dirty="0"/>
          </a:p>
        </p:txBody>
      </p:sp>
      <p:sp>
        <p:nvSpPr>
          <p:cNvPr id="26" name="Shape 21"/>
          <p:cNvSpPr/>
          <p:nvPr/>
        </p:nvSpPr>
        <p:spPr>
          <a:xfrm>
            <a:off x="9509760" y="1600200"/>
            <a:ext cx="2148840" cy="1005840"/>
          </a:xfrm>
          <a:prstGeom prst="roundRect">
            <a:avLst>
              <a:gd name="adj" fmla="val 12727"/>
            </a:avLst>
          </a:prstGeom>
          <a:solidFill>
            <a:srgbClr val="F1EBFA"/>
          </a:solidFill>
          <a:ln w="12700">
            <a:solidFill>
              <a:srgbClr val="E4D9F5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9692640" y="1847088"/>
            <a:ext cx="512064" cy="512064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10415" y="1964863"/>
            <a:ext cx="276515" cy="276515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10351008" y="1773936"/>
            <a:ext cx="1234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試算表</a:t>
            </a:r>
            <a:endParaRPr lang="en-US" sz="1400" dirty="0"/>
          </a:p>
        </p:txBody>
      </p:sp>
      <p:sp>
        <p:nvSpPr>
          <p:cNvPr id="30" name="Text 24"/>
          <p:cNvSpPr txBox="1"/>
          <p:nvPr/>
        </p:nvSpPr>
        <p:spPr>
          <a:xfrm>
            <a:off x="10351008" y="2121408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586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票券的資料</a:t>
            </a:r>
            <a:endParaRPr lang="en-US" sz="1200" dirty="0"/>
          </a:p>
        </p:txBody>
      </p:sp>
      <p:sp>
        <p:nvSpPr>
          <p:cNvPr id="31" name="Shape 25"/>
          <p:cNvSpPr/>
          <p:nvPr/>
        </p:nvSpPr>
        <p:spPr>
          <a:xfrm>
            <a:off x="9509760" y="2926080"/>
            <a:ext cx="2148840" cy="1005840"/>
          </a:xfrm>
          <a:prstGeom prst="roundRect">
            <a:avLst>
              <a:gd name="adj" fmla="val 12727"/>
            </a:avLst>
          </a:prstGeom>
          <a:solidFill>
            <a:srgbClr val="F1EBFA"/>
          </a:solidFill>
          <a:ln w="12700">
            <a:solidFill>
              <a:srgbClr val="E4D9F5"/>
            </a:solidFill>
            <a:prstDash val="solid"/>
          </a:ln>
        </p:spPr>
      </p:sp>
      <p:sp>
        <p:nvSpPr>
          <p:cNvPr id="32" name="Shape 26"/>
          <p:cNvSpPr/>
          <p:nvPr/>
        </p:nvSpPr>
        <p:spPr>
          <a:xfrm>
            <a:off x="9692640" y="3172968"/>
            <a:ext cx="512064" cy="512064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3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10415" y="3290743"/>
            <a:ext cx="276515" cy="276515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10351008" y="3099816"/>
            <a:ext cx="1234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雲端硬碟</a:t>
            </a:r>
            <a:endParaRPr lang="en-US" sz="1400" dirty="0"/>
          </a:p>
        </p:txBody>
      </p:sp>
      <p:sp>
        <p:nvSpPr>
          <p:cNvPr id="35" name="Text 28"/>
          <p:cNvSpPr txBox="1"/>
          <p:nvPr/>
        </p:nvSpPr>
        <p:spPr>
          <a:xfrm>
            <a:off x="10351008" y="3447288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586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票券截圖</a:t>
            </a:r>
            <a:endParaRPr lang="en-US" sz="1200" dirty="0"/>
          </a:p>
        </p:txBody>
      </p:sp>
      <p:sp>
        <p:nvSpPr>
          <p:cNvPr id="36" name="Shape 29"/>
          <p:cNvSpPr/>
          <p:nvPr/>
        </p:nvSpPr>
        <p:spPr>
          <a:xfrm>
            <a:off x="6629400" y="4206240"/>
            <a:ext cx="2377440" cy="1097280"/>
          </a:xfrm>
          <a:prstGeom prst="roundRect">
            <a:avLst>
              <a:gd name="adj" fmla="val 11667"/>
            </a:avLst>
          </a:prstGeom>
          <a:solidFill>
            <a:srgbClr val="F1EBFA"/>
          </a:solidFill>
          <a:ln w="12700">
            <a:solidFill>
              <a:srgbClr val="E4D9F5"/>
            </a:solidFill>
            <a:prstDash val="solid"/>
          </a:ln>
        </p:spPr>
      </p:sp>
      <p:sp>
        <p:nvSpPr>
          <p:cNvPr id="37" name="Shape 30"/>
          <p:cNvSpPr/>
          <p:nvPr/>
        </p:nvSpPr>
        <p:spPr>
          <a:xfrm>
            <a:off x="6812280" y="4498848"/>
            <a:ext cx="512064" cy="512064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3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30055" y="4616623"/>
            <a:ext cx="276515" cy="276515"/>
          </a:xfrm>
          <a:prstGeom prst="rect">
            <a:avLst/>
          </a:prstGeom>
        </p:spPr>
      </p:pic>
      <p:sp>
        <p:nvSpPr>
          <p:cNvPr id="39" name="Text 31"/>
          <p:cNvSpPr txBox="1"/>
          <p:nvPr/>
        </p:nvSpPr>
        <p:spPr>
          <a:xfrm>
            <a:off x="7470648" y="4425696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Gemini</a:t>
            </a:r>
            <a:endParaRPr lang="en-US" sz="1400" dirty="0"/>
          </a:p>
        </p:txBody>
      </p:sp>
      <p:sp>
        <p:nvSpPr>
          <p:cNvPr id="40" name="Text 32"/>
          <p:cNvSpPr txBox="1"/>
          <p:nvPr/>
        </p:nvSpPr>
        <p:spPr>
          <a:xfrm>
            <a:off x="7470648" y="477316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586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讀截圖，有免費額度</a:t>
            </a:r>
            <a:endParaRPr lang="en-US" sz="1200" dirty="0"/>
          </a:p>
        </p:txBody>
      </p:sp>
      <p:sp>
        <p:nvSpPr>
          <p:cNvPr id="41" name="Shape 33"/>
          <p:cNvSpPr/>
          <p:nvPr/>
        </p:nvSpPr>
        <p:spPr>
          <a:xfrm>
            <a:off x="3429000" y="4206240"/>
            <a:ext cx="2788920" cy="1097280"/>
          </a:xfrm>
          <a:prstGeom prst="roundRect">
            <a:avLst>
              <a:gd name="adj" fmla="val 11667"/>
            </a:avLst>
          </a:prstGeom>
          <a:solidFill>
            <a:srgbClr val="F1EBFA"/>
          </a:solidFill>
          <a:ln w="12700">
            <a:solidFill>
              <a:srgbClr val="E4D9F5"/>
            </a:solidFill>
            <a:prstDash val="solid"/>
          </a:ln>
        </p:spPr>
      </p:sp>
      <p:sp>
        <p:nvSpPr>
          <p:cNvPr id="42" name="Shape 34"/>
          <p:cNvSpPr/>
          <p:nvPr/>
        </p:nvSpPr>
        <p:spPr>
          <a:xfrm>
            <a:off x="3611880" y="4498848"/>
            <a:ext cx="512064" cy="512064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4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29655" y="4616623"/>
            <a:ext cx="276515" cy="276515"/>
          </a:xfrm>
          <a:prstGeom prst="rect">
            <a:avLst/>
          </a:prstGeom>
        </p:spPr>
      </p:pic>
      <p:sp>
        <p:nvSpPr>
          <p:cNvPr id="44" name="Text 35"/>
          <p:cNvSpPr txBox="1"/>
          <p:nvPr/>
        </p:nvSpPr>
        <p:spPr>
          <a:xfrm>
            <a:off x="4270248" y="442569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朋友</a:t>
            </a:r>
            <a:endParaRPr lang="en-US" sz="1400" dirty="0"/>
          </a:p>
        </p:txBody>
      </p:sp>
      <p:sp>
        <p:nvSpPr>
          <p:cNvPr id="45" name="Text 36"/>
          <p:cNvSpPr txBox="1"/>
          <p:nvPr/>
        </p:nvSpPr>
        <p:spPr>
          <a:xfrm>
            <a:off x="4270248" y="4773168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586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點分享連結，不用裝 App</a:t>
            </a:r>
            <a:endParaRPr lang="en-US" sz="1200" dirty="0"/>
          </a:p>
        </p:txBody>
      </p:sp>
      <p:sp>
        <p:nvSpPr>
          <p:cNvPr id="46" name="Shape 37"/>
          <p:cNvSpPr/>
          <p:nvPr/>
        </p:nvSpPr>
        <p:spPr>
          <a:xfrm>
            <a:off x="9509760" y="4297680"/>
            <a:ext cx="2148840" cy="1005840"/>
          </a:xfrm>
          <a:prstGeom prst="roundRect">
            <a:avLst>
              <a:gd name="adj" fmla="val 12727"/>
            </a:avLst>
          </a:prstGeom>
          <a:solidFill>
            <a:srgbClr val="F1EBFA"/>
          </a:solidFill>
          <a:ln w="12700">
            <a:solidFill>
              <a:srgbClr val="E4D9F5"/>
            </a:solidFill>
            <a:prstDash val="solid"/>
          </a:ln>
        </p:spPr>
      </p:sp>
      <p:sp>
        <p:nvSpPr>
          <p:cNvPr id="47" name="Shape 38"/>
          <p:cNvSpPr/>
          <p:nvPr/>
        </p:nvSpPr>
        <p:spPr>
          <a:xfrm>
            <a:off x="9692640" y="4544568"/>
            <a:ext cx="512064" cy="512064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48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10415" y="4662343"/>
            <a:ext cx="276515" cy="276515"/>
          </a:xfrm>
          <a:prstGeom prst="rect">
            <a:avLst/>
          </a:prstGeom>
        </p:spPr>
      </p:pic>
      <p:sp>
        <p:nvSpPr>
          <p:cNvPr id="49" name="Text 39"/>
          <p:cNvSpPr txBox="1"/>
          <p:nvPr/>
        </p:nvSpPr>
        <p:spPr>
          <a:xfrm>
            <a:off x="10351008" y="4471416"/>
            <a:ext cx="1234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Discord</a:t>
            </a:r>
            <a:endParaRPr lang="en-US" sz="1400" dirty="0"/>
          </a:p>
        </p:txBody>
      </p:sp>
      <p:sp>
        <p:nvSpPr>
          <p:cNvPr id="50" name="Text 40"/>
          <p:cNvSpPr txBox="1"/>
          <p:nvPr/>
        </p:nvSpPr>
        <p:spPr>
          <a:xfrm>
            <a:off x="10351008" y="4818888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586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通知（選用）</a:t>
            </a:r>
            <a:endParaRPr lang="en-US" sz="1200" dirty="0"/>
          </a:p>
        </p:txBody>
      </p:sp>
      <p:sp>
        <p:nvSpPr>
          <p:cNvPr id="51" name="Shape 41"/>
          <p:cNvSpPr/>
          <p:nvPr/>
        </p:nvSpPr>
        <p:spPr>
          <a:xfrm>
            <a:off x="548640" y="5715000"/>
            <a:ext cx="11109960" cy="566928"/>
          </a:xfrm>
          <a:prstGeom prst="roundRect">
            <a:avLst>
              <a:gd name="adj" fmla="val 19355"/>
            </a:avLst>
          </a:prstGeom>
          <a:solidFill>
            <a:srgbClr val="F1EBFA"/>
          </a:solidFill>
          <a:ln/>
        </p:spPr>
      </p:sp>
      <p:pic>
        <p:nvPicPr>
          <p:cNvPr id="52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77240" y="5815584"/>
            <a:ext cx="365760" cy="365760"/>
          </a:xfrm>
          <a:prstGeom prst="rect">
            <a:avLst/>
          </a:prstGeom>
        </p:spPr>
      </p:pic>
      <p:sp>
        <p:nvSpPr>
          <p:cNvPr id="53" name="Text 42"/>
          <p:cNvSpPr txBox="1"/>
          <p:nvPr/>
        </p:nvSpPr>
        <p:spPr>
          <a:xfrm>
            <a:off x="1280160" y="5852160"/>
            <a:ext cx="10241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D2A5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別人沒有你的存取碼（OWNER_KEY）就看不到你的票券；朋友只看得到你分享給他的那幾張。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3200" b="1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開始前準備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5F586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準備好這四樣，大約 30 分鐘就能裝好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640080" cy="640080"/>
          </a:xfrm>
          <a:prstGeom prst="ellipse">
            <a:avLst/>
          </a:prstGeom>
          <a:solidFill>
            <a:srgbClr val="F1EBFA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5858" y="1930298"/>
            <a:ext cx="345643" cy="345643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801368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800" b="1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一台電腦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1417320" y="2167128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5F586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Windows 或 Mac 都可以，全部在瀏覽器裡做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48640" y="2788920"/>
            <a:ext cx="640080" cy="640080"/>
          </a:xfrm>
          <a:prstGeom prst="ellipse">
            <a:avLst/>
          </a:prstGeom>
          <a:solidFill>
            <a:srgbClr val="F1EBFA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5858" y="2936138"/>
            <a:ext cx="345643" cy="345643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417320" y="2807208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800" b="1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Google 帳號</a:t>
            </a:r>
            <a:endParaRPr lang="en-US" sz="1800" dirty="0"/>
          </a:p>
        </p:txBody>
      </p:sp>
      <p:sp>
        <p:nvSpPr>
          <p:cNvPr id="11" name="Text 7"/>
          <p:cNvSpPr txBox="1"/>
          <p:nvPr/>
        </p:nvSpPr>
        <p:spPr>
          <a:xfrm>
            <a:off x="1417320" y="3172968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5F586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後端、試算表、雲端硬碟、Gemini 都用這個帳號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548640" y="3794760"/>
            <a:ext cx="640080" cy="640080"/>
          </a:xfrm>
          <a:prstGeom prst="ellipse">
            <a:avLst/>
          </a:prstGeom>
          <a:solidFill>
            <a:srgbClr val="F1EBFA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5858" y="3941978"/>
            <a:ext cx="345643" cy="345643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417320" y="3813048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800" b="1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Cloudflare 帳號</a:t>
            </a:r>
            <a:endParaRPr lang="en-US" sz="1800" dirty="0"/>
          </a:p>
        </p:txBody>
      </p:sp>
      <p:sp>
        <p:nvSpPr>
          <p:cNvPr id="15" name="Text 10"/>
          <p:cNvSpPr txBox="1"/>
          <p:nvPr/>
        </p:nvSpPr>
        <p:spPr>
          <a:xfrm>
            <a:off x="1417320" y="4178808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5F586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到 dash.cloudflare.com 免費註冊，用來放網站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548640" y="4800600"/>
            <a:ext cx="640080" cy="640080"/>
          </a:xfrm>
          <a:prstGeom prst="ellipse">
            <a:avLst/>
          </a:prstGeom>
          <a:solidFill>
            <a:srgbClr val="F1EBFA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5858" y="4947818"/>
            <a:ext cx="345643" cy="345643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417320" y="4818888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800" b="1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這個壓縮檔</a:t>
            </a:r>
            <a:endParaRPr lang="en-US" sz="1800" dirty="0"/>
          </a:p>
        </p:txBody>
      </p:sp>
      <p:sp>
        <p:nvSpPr>
          <p:cNvPr id="19" name="Text 13"/>
          <p:cNvSpPr txBox="1"/>
          <p:nvPr/>
        </p:nvSpPr>
        <p:spPr>
          <a:xfrm>
            <a:off x="1417320" y="5184648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5F586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解壓縮後有 Code.gs（網站之後用網站產生器下載）</a:t>
            </a:r>
            <a:endParaRPr lang="en-US" sz="1400" dirty="0"/>
          </a:p>
        </p:txBody>
      </p:sp>
      <p:sp>
        <p:nvSpPr>
          <p:cNvPr id="20" name="Shape 14"/>
          <p:cNvSpPr/>
          <p:nvPr/>
        </p:nvSpPr>
        <p:spPr>
          <a:xfrm>
            <a:off x="6903720" y="1783080"/>
            <a:ext cx="4754880" cy="4343400"/>
          </a:xfrm>
          <a:prstGeom prst="roundRect">
            <a:avLst>
              <a:gd name="adj" fmla="val 3368"/>
            </a:avLst>
          </a:prstGeom>
          <a:solidFill>
            <a:srgbClr val="F1EBFA"/>
          </a:solidFill>
          <a:ln/>
        </p:spPr>
      </p:sp>
      <p:sp>
        <p:nvSpPr>
          <p:cNvPr id="21" name="Text 15"/>
          <p:cNvSpPr txBox="1"/>
          <p:nvPr/>
        </p:nvSpPr>
        <p:spPr>
          <a:xfrm>
            <a:off x="7223760" y="2011680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900" b="1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過程中會拿到 3 樣東西</a:t>
            </a:r>
            <a:endParaRPr lang="en-US" sz="1900" dirty="0"/>
          </a:p>
        </p:txBody>
      </p:sp>
      <p:sp>
        <p:nvSpPr>
          <p:cNvPr id="22" name="Text 16"/>
          <p:cNvSpPr txBox="1"/>
          <p:nvPr/>
        </p:nvSpPr>
        <p:spPr>
          <a:xfrm>
            <a:off x="7223760" y="242316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F586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先開一個記事本存起來，後面會用到</a:t>
            </a:r>
            <a:endParaRPr lang="en-US" sz="1300" dirty="0"/>
          </a:p>
        </p:txBody>
      </p:sp>
      <p:sp>
        <p:nvSpPr>
          <p:cNvPr id="23" name="Shape 17"/>
          <p:cNvSpPr/>
          <p:nvPr/>
        </p:nvSpPr>
        <p:spPr>
          <a:xfrm>
            <a:off x="7223760" y="2880360"/>
            <a:ext cx="411480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/>
        </p:spPr>
      </p:sp>
      <p:sp>
        <p:nvSpPr>
          <p:cNvPr id="24" name="Shape 18"/>
          <p:cNvSpPr/>
          <p:nvPr/>
        </p:nvSpPr>
        <p:spPr>
          <a:xfrm>
            <a:off x="7360920" y="2990088"/>
            <a:ext cx="347472" cy="347472"/>
          </a:xfrm>
          <a:prstGeom prst="ellipse">
            <a:avLst/>
          </a:prstGeom>
          <a:solidFill>
            <a:srgbClr val="6A35A8"/>
          </a:solidFill>
          <a:ln/>
        </p:spPr>
      </p:sp>
      <p:sp>
        <p:nvSpPr>
          <p:cNvPr id="25" name="Text 19"/>
          <p:cNvSpPr txBox="1"/>
          <p:nvPr/>
        </p:nvSpPr>
        <p:spPr>
          <a:xfrm>
            <a:off x="7360920" y="29900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300" dirty="0"/>
          </a:p>
        </p:txBody>
      </p:sp>
      <p:sp>
        <p:nvSpPr>
          <p:cNvPr id="26" name="Text 20"/>
          <p:cNvSpPr txBox="1"/>
          <p:nvPr/>
        </p:nvSpPr>
        <p:spPr>
          <a:xfrm>
            <a:off x="7863840" y="2999232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OWNER_KEY（存取碼）</a:t>
            </a:r>
            <a:endParaRPr lang="en-US" sz="1500" dirty="0"/>
          </a:p>
        </p:txBody>
      </p:sp>
      <p:sp>
        <p:nvSpPr>
          <p:cNvPr id="27" name="Text 21"/>
          <p:cNvSpPr txBox="1"/>
          <p:nvPr/>
        </p:nvSpPr>
        <p:spPr>
          <a:xfrm>
            <a:off x="10241280" y="2999232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6A35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第一步</a:t>
            </a:r>
            <a:endParaRPr lang="en-US" sz="1300" dirty="0"/>
          </a:p>
        </p:txBody>
      </p:sp>
      <p:sp>
        <p:nvSpPr>
          <p:cNvPr id="28" name="Shape 22"/>
          <p:cNvSpPr/>
          <p:nvPr/>
        </p:nvSpPr>
        <p:spPr>
          <a:xfrm>
            <a:off x="7223760" y="3593592"/>
            <a:ext cx="411480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/>
        </p:spPr>
      </p:sp>
      <p:sp>
        <p:nvSpPr>
          <p:cNvPr id="29" name="Shape 23"/>
          <p:cNvSpPr/>
          <p:nvPr/>
        </p:nvSpPr>
        <p:spPr>
          <a:xfrm>
            <a:off x="7360920" y="3703320"/>
            <a:ext cx="347472" cy="347472"/>
          </a:xfrm>
          <a:prstGeom prst="ellipse">
            <a:avLst/>
          </a:prstGeom>
          <a:solidFill>
            <a:srgbClr val="6A35A8"/>
          </a:solidFill>
          <a:ln/>
        </p:spPr>
      </p:sp>
      <p:sp>
        <p:nvSpPr>
          <p:cNvPr id="30" name="Text 24"/>
          <p:cNvSpPr txBox="1"/>
          <p:nvPr/>
        </p:nvSpPr>
        <p:spPr>
          <a:xfrm>
            <a:off x="7360920" y="37033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300" dirty="0"/>
          </a:p>
        </p:txBody>
      </p:sp>
      <p:sp>
        <p:nvSpPr>
          <p:cNvPr id="31" name="Text 25"/>
          <p:cNvSpPr txBox="1"/>
          <p:nvPr/>
        </p:nvSpPr>
        <p:spPr>
          <a:xfrm>
            <a:off x="7863840" y="3712464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/exec 網址</a:t>
            </a:r>
            <a:endParaRPr lang="en-US" sz="1500" dirty="0"/>
          </a:p>
        </p:txBody>
      </p:sp>
      <p:sp>
        <p:nvSpPr>
          <p:cNvPr id="32" name="Text 26"/>
          <p:cNvSpPr txBox="1"/>
          <p:nvPr/>
        </p:nvSpPr>
        <p:spPr>
          <a:xfrm>
            <a:off x="10241280" y="3712464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6A35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第一步</a:t>
            </a:r>
            <a:endParaRPr lang="en-US" sz="1300" dirty="0"/>
          </a:p>
        </p:txBody>
      </p:sp>
      <p:sp>
        <p:nvSpPr>
          <p:cNvPr id="33" name="Shape 27"/>
          <p:cNvSpPr/>
          <p:nvPr/>
        </p:nvSpPr>
        <p:spPr>
          <a:xfrm>
            <a:off x="7223760" y="4306824"/>
            <a:ext cx="411480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/>
        </p:spPr>
      </p:sp>
      <p:sp>
        <p:nvSpPr>
          <p:cNvPr id="34" name="Shape 28"/>
          <p:cNvSpPr/>
          <p:nvPr/>
        </p:nvSpPr>
        <p:spPr>
          <a:xfrm>
            <a:off x="7360920" y="4416552"/>
            <a:ext cx="347472" cy="347472"/>
          </a:xfrm>
          <a:prstGeom prst="ellipse">
            <a:avLst/>
          </a:prstGeom>
          <a:solidFill>
            <a:srgbClr val="6A35A8"/>
          </a:solidFill>
          <a:ln/>
        </p:spPr>
      </p:sp>
      <p:sp>
        <p:nvSpPr>
          <p:cNvPr id="35" name="Text 29"/>
          <p:cNvSpPr txBox="1"/>
          <p:nvPr/>
        </p:nvSpPr>
        <p:spPr>
          <a:xfrm>
            <a:off x="7360920" y="441655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300" dirty="0"/>
          </a:p>
        </p:txBody>
      </p:sp>
      <p:sp>
        <p:nvSpPr>
          <p:cNvPr id="36" name="Text 30"/>
          <p:cNvSpPr txBox="1"/>
          <p:nvPr/>
        </p:nvSpPr>
        <p:spPr>
          <a:xfrm>
            <a:off x="7863840" y="4425696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Gemini 金鑰</a:t>
            </a:r>
            <a:endParaRPr lang="en-US" sz="1500" dirty="0"/>
          </a:p>
        </p:txBody>
      </p:sp>
      <p:sp>
        <p:nvSpPr>
          <p:cNvPr id="37" name="Text 31"/>
          <p:cNvSpPr txBox="1"/>
          <p:nvPr/>
        </p:nvSpPr>
        <p:spPr>
          <a:xfrm>
            <a:off x="10241280" y="4425696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6A35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第三步</a:t>
            </a:r>
            <a:endParaRPr lang="en-US" sz="1300" dirty="0"/>
          </a:p>
        </p:txBody>
      </p:sp>
      <p:sp>
        <p:nvSpPr>
          <p:cNvPr id="38" name="Shape 32"/>
          <p:cNvSpPr/>
          <p:nvPr/>
        </p:nvSpPr>
        <p:spPr>
          <a:xfrm>
            <a:off x="7223760" y="5120640"/>
            <a:ext cx="4114800" cy="779272"/>
          </a:xfrm>
          <a:prstGeom prst="roundRect">
            <a:avLst>
              <a:gd name="adj" fmla="val 14081"/>
            </a:avLst>
          </a:prstGeom>
          <a:solidFill>
            <a:srgbClr val="FBEAE7"/>
          </a:solidFill>
          <a:ln/>
        </p:spPr>
      </p:sp>
      <p:pic>
        <p:nvPicPr>
          <p:cNvPr id="3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0" y="5327396"/>
            <a:ext cx="365760" cy="365760"/>
          </a:xfrm>
          <a:prstGeom prst="rect">
            <a:avLst/>
          </a:prstGeom>
        </p:spPr>
      </p:pic>
      <p:sp>
        <p:nvSpPr>
          <p:cNvPr id="40" name="Text 33"/>
          <p:cNvSpPr txBox="1"/>
          <p:nvPr/>
        </p:nvSpPr>
        <p:spPr>
          <a:xfrm>
            <a:off x="7955280" y="5257800"/>
            <a:ext cx="3246120" cy="504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6B1F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OWNER_KEY 就像鑰匙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6B1F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：有它就能看、改你所有的票券，不要給別人。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749808" cy="749808"/>
          </a:xfrm>
          <a:prstGeom prst="ellipse">
            <a:avLst/>
          </a:prstGeom>
          <a:solidFill>
            <a:srgbClr val="6A35A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7498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4206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6A35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第一步　後端（1/3）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508760" y="676656"/>
            <a:ext cx="101342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3000" b="1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建立後端（Apps Script）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1243584"/>
            <a:ext cx="101342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5F586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 Code.gs 放進你自己的 Google 帳號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892808"/>
            <a:ext cx="329184" cy="329184"/>
          </a:xfrm>
          <a:prstGeom prst="ellipse">
            <a:avLst/>
          </a:prstGeom>
          <a:solidFill>
            <a:srgbClr val="F1EBF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8928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A35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060704" y="1874520"/>
            <a:ext cx="5980176" cy="334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打開 </a:t>
            </a:r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script.google.com</a:t>
            </a:r>
            <a:pPr algn="l"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，按左上「</a:t>
            </a:r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新專案</a:t>
            </a:r>
            <a:pPr algn="l"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」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48640" y="2404872"/>
            <a:ext cx="329184" cy="329184"/>
          </a:xfrm>
          <a:prstGeom prst="ellipse">
            <a:avLst/>
          </a:prstGeom>
          <a:solidFill>
            <a:srgbClr val="F1EBF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4048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A35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060704" y="2386584"/>
            <a:ext cx="5980176" cy="334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點上方「無標題的專案」，改名為「</a:t>
            </a:r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票券後端</a:t>
            </a:r>
            <a:pPr algn="l"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」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48640" y="2916936"/>
            <a:ext cx="329184" cy="329184"/>
          </a:xfrm>
          <a:prstGeom prst="ellipse">
            <a:avLst/>
          </a:prstGeom>
          <a:solidFill>
            <a:srgbClr val="F1EBF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29169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A35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060704" y="2898648"/>
            <a:ext cx="5980176" cy="6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用記事本打開壓縮檔裡的 </a:t>
            </a:r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6A35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Code.gs</a:t>
            </a:r>
            <a:pPr algn="l"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，</a:t>
            </a:r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Ctrl+A</a:t>
            </a:r>
            <a:pPr algn="l"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全選、</a:t>
            </a:r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Ctrl+C</a:t>
            </a:r>
            <a:pPr algn="l"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複製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0" y="3676904"/>
            <a:ext cx="329184" cy="329184"/>
          </a:xfrm>
          <a:prstGeom prst="ellipse">
            <a:avLst/>
          </a:prstGeom>
          <a:solidFill>
            <a:srgbClr val="F1EBF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36769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A35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060704" y="3658616"/>
            <a:ext cx="5980176" cy="6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回到編輯器，把「程式碼.gs」原本的內容全部刪掉，</a:t>
            </a:r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Ctrl+V</a:t>
            </a:r>
            <a:pPr algn="l"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貼上，按儲存（磁碟片圖示）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7635240" y="1874520"/>
            <a:ext cx="4023360" cy="1097280"/>
          </a:xfrm>
          <a:prstGeom prst="roundRect">
            <a:avLst>
              <a:gd name="adj" fmla="val 11667"/>
            </a:avLst>
          </a:prstGeom>
          <a:solidFill>
            <a:srgbClr val="F1EBFA"/>
          </a:solidFill>
          <a:ln w="12700">
            <a:solidFill>
              <a:srgbClr val="E4D9F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863840" y="2121408"/>
            <a:ext cx="603504" cy="603504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2646" y="2260214"/>
            <a:ext cx="325892" cy="325892"/>
          </a:xfrm>
          <a:prstGeom prst="rect">
            <a:avLst/>
          </a:prstGeom>
        </p:spPr>
      </p:pic>
      <p:sp>
        <p:nvSpPr>
          <p:cNvPr id="25" name="Text 22"/>
          <p:cNvSpPr txBox="1"/>
          <p:nvPr/>
        </p:nvSpPr>
        <p:spPr>
          <a:xfrm>
            <a:off x="8641080" y="21031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800" b="1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Code.gs</a:t>
            </a:r>
            <a:endParaRPr lang="en-US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8641080" y="248716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F586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在這個壓縮檔裡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9646920" y="3017520"/>
            <a:ext cx="914" cy="685800"/>
          </a:xfrm>
          <a:prstGeom prst="line">
            <a:avLst/>
          </a:prstGeom>
          <a:noFill/>
          <a:ln w="25400">
            <a:solidFill>
              <a:srgbClr val="6A35A8"/>
            </a:solidFill>
            <a:prstDash val="solid"/>
            <a:tailEnd type="triangle"/>
          </a:ln>
        </p:spPr>
      </p:sp>
      <p:sp>
        <p:nvSpPr>
          <p:cNvPr id="28" name="Text 25"/>
          <p:cNvSpPr txBox="1"/>
          <p:nvPr/>
        </p:nvSpPr>
        <p:spPr>
          <a:xfrm>
            <a:off x="9829800" y="32004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6A35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整份複製貼上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7635240" y="3749040"/>
            <a:ext cx="4023360" cy="1097280"/>
          </a:xfrm>
          <a:prstGeom prst="roundRect">
            <a:avLst>
              <a:gd name="adj" fmla="val 11667"/>
            </a:avLst>
          </a:prstGeom>
          <a:solidFill>
            <a:srgbClr val="F1EBFA"/>
          </a:solidFill>
          <a:ln w="12700">
            <a:solidFill>
              <a:srgbClr val="E4D9F5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7863840" y="3995928"/>
            <a:ext cx="603504" cy="603504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3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2646" y="4134734"/>
            <a:ext cx="325892" cy="325892"/>
          </a:xfrm>
          <a:prstGeom prst="rect">
            <a:avLst/>
          </a:prstGeom>
        </p:spPr>
      </p:pic>
      <p:sp>
        <p:nvSpPr>
          <p:cNvPr id="32" name="Text 28"/>
          <p:cNvSpPr txBox="1"/>
          <p:nvPr/>
        </p:nvSpPr>
        <p:spPr>
          <a:xfrm>
            <a:off x="8641080" y="39776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800" b="1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程式碼.gs</a:t>
            </a:r>
            <a:endParaRPr lang="en-US" sz="1800" dirty="0"/>
          </a:p>
        </p:txBody>
      </p:sp>
      <p:sp>
        <p:nvSpPr>
          <p:cNvPr id="33" name="Text 29"/>
          <p:cNvSpPr txBox="1"/>
          <p:nvPr/>
        </p:nvSpPr>
        <p:spPr>
          <a:xfrm>
            <a:off x="8641080" y="43616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F586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Apps Script 編輯器裡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7635240" y="5074920"/>
            <a:ext cx="4023360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2700">
            <a:solidFill>
              <a:srgbClr val="E4D9F5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7863840" y="507492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時區不用改</a:t>
            </a:r>
            <a:r>
              <a:rPr lang="en-US" sz="1400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：程式固定用台北時間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749808" cy="749808"/>
          </a:xfrm>
          <a:prstGeom prst="ellipse">
            <a:avLst/>
          </a:prstGeom>
          <a:solidFill>
            <a:srgbClr val="6A35A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7498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4206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6A35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第一步　後端（2/3）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508760" y="676656"/>
            <a:ext cx="101342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3000" b="1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 setup，拿到存取碼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1243584"/>
            <a:ext cx="101342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5F586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它會幫你建好「票券資料」試算表和「票券截圖」資料夾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892808"/>
            <a:ext cx="329184" cy="329184"/>
          </a:xfrm>
          <a:prstGeom prst="ellipse">
            <a:avLst/>
          </a:prstGeom>
          <a:solidFill>
            <a:srgbClr val="F1EBF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8928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A35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060704" y="1874520"/>
            <a:ext cx="5522976" cy="6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回到編輯器（左邊 </a:t>
            </a:r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&lt; &gt;</a:t>
            </a:r>
            <a:pPr algn="l"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圖示），上方函式選單選 </a:t>
            </a:r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6A35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setup</a:t>
            </a:r>
            <a:pPr algn="l"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，按「</a:t>
            </a:r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pPr algn="l"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」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48640" y="2652776"/>
            <a:ext cx="329184" cy="329184"/>
          </a:xfrm>
          <a:prstGeom prst="ellipse">
            <a:avLst/>
          </a:prstGeom>
          <a:solidFill>
            <a:srgbClr val="F1EBF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65277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A35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060704" y="2634488"/>
            <a:ext cx="5522976" cy="334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跳出「需要授權」→「</a:t>
            </a:r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審查權限</a:t>
            </a:r>
            <a:pPr algn="l"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」→ 選你的帳號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48640" y="3164840"/>
            <a:ext cx="329184" cy="329184"/>
          </a:xfrm>
          <a:prstGeom prst="ellipse">
            <a:avLst/>
          </a:prstGeom>
          <a:solidFill>
            <a:srgbClr val="F1EBF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31648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A35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060704" y="3146552"/>
            <a:ext cx="5522976" cy="911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看到「Google 尚未驗證這個應用程式」→ 左下「</a:t>
            </a:r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進階</a:t>
            </a:r>
            <a:pPr algn="l"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」→「</a:t>
            </a:r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前往 票券後端（不安全）</a:t>
            </a:r>
            <a:pPr algn="l"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」→ 權限全部勾選 →「</a:t>
            </a:r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繼續</a:t>
            </a:r>
            <a:pPr algn="l"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」（或「</a:t>
            </a:r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允許</a:t>
            </a:r>
            <a:pPr algn="l"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」）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0" y="4213352"/>
            <a:ext cx="329184" cy="329184"/>
          </a:xfrm>
          <a:prstGeom prst="ellipse">
            <a:avLst/>
          </a:prstGeom>
          <a:solidFill>
            <a:srgbClr val="F1EBF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42133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A35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060704" y="4195064"/>
            <a:ext cx="5522976" cy="334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下方「執行紀錄」會印出 </a:t>
            </a:r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OWNER_KEY</a:t>
            </a:r>
            <a:pPr algn="l"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，複製存好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7086600" y="1874520"/>
            <a:ext cx="4572000" cy="2355342"/>
          </a:xfrm>
          <a:prstGeom prst="roundRect">
            <a:avLst>
              <a:gd name="adj" fmla="val 3882"/>
            </a:avLst>
          </a:prstGeom>
          <a:solidFill>
            <a:srgbClr val="221C2D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342632" y="2020824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B7A6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執行紀錄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7342632" y="2331720"/>
            <a:ext cx="41148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7A6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───── 票券安裝完成 ─────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342632" y="2579370"/>
            <a:ext cx="41148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7A6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試算表：</a:t>
            </a:r>
            <a:pPr indent="0" marL="0">
              <a:buNone/>
            </a:pPr>
            <a:r>
              <a:rPr lang="en-US" sz="1300" dirty="0">
                <a:solidFill>
                  <a:srgbClr val="E9E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https://docs.google.com/…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7342632" y="2827020"/>
            <a:ext cx="41148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7A6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截圖資料夾：</a:t>
            </a:r>
            <a:pPr indent="0" marL="0">
              <a:buNone/>
            </a:pPr>
            <a:r>
              <a:rPr lang="en-US" sz="1300" dirty="0">
                <a:solidFill>
                  <a:srgbClr val="E9E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https://drive.google.com/…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7342632" y="3074670"/>
            <a:ext cx="41148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9E3F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OWNER_KEY（貼到前端「設定」裡）：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7342632" y="3322320"/>
            <a:ext cx="41148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C4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k7x2m9pq4rvs…（24 個字）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7342632" y="3569970"/>
            <a:ext cx="41148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7A6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辨識金鑰：還沒設定（等一下在 App 裡貼）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7342632" y="3817620"/>
            <a:ext cx="41148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7A6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到期提醒：每天早上 9 點多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548640" y="5440680"/>
            <a:ext cx="11109960" cy="566928"/>
          </a:xfrm>
          <a:prstGeom prst="roundRect">
            <a:avLst>
              <a:gd name="adj" fmla="val 19355"/>
            </a:avLst>
          </a:prstGeom>
          <a:solidFill>
            <a:srgbClr val="F1EBFA"/>
          </a:solidFill>
          <a:ln/>
        </p:spPr>
      </p:sp>
      <p:pic>
        <p:nvPicPr>
          <p:cNvPr id="2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41264"/>
            <a:ext cx="365760" cy="365760"/>
          </a:xfrm>
          <a:prstGeom prst="rect">
            <a:avLst/>
          </a:prstGeom>
        </p:spPr>
      </p:pic>
      <p:sp>
        <p:nvSpPr>
          <p:cNvPr id="30" name="Text 27"/>
          <p:cNvSpPr txBox="1"/>
          <p:nvPr/>
        </p:nvSpPr>
        <p:spPr>
          <a:xfrm>
            <a:off x="1280160" y="5577840"/>
            <a:ext cx="10241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D2A5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「不安全」只是因為這是你自己的程式、沒送 Google 審核；它只會用到你自己的試算表和雲端硬碟。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749808" cy="749808"/>
          </a:xfrm>
          <a:prstGeom prst="ellipse">
            <a:avLst/>
          </a:prstGeom>
          <a:solidFill>
            <a:srgbClr val="6A35A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7498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4206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6A35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第一步　後端（3/3）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508760" y="676656"/>
            <a:ext cx="101342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3000" b="1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部署成網頁應用程式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1243584"/>
            <a:ext cx="101342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5F586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拿到後端網址（…/exec 結尾）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892808"/>
            <a:ext cx="329184" cy="329184"/>
          </a:xfrm>
          <a:prstGeom prst="ellipse">
            <a:avLst/>
          </a:prstGeom>
          <a:solidFill>
            <a:srgbClr val="F1EBF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8928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A35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060704" y="1874520"/>
            <a:ext cx="5980176" cy="334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右上藍色「</a:t>
            </a:r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部署</a:t>
            </a:r>
            <a:pPr algn="l"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」→「</a:t>
            </a:r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新增部署作業</a:t>
            </a:r>
            <a:pPr algn="l"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」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48640" y="2404872"/>
            <a:ext cx="329184" cy="329184"/>
          </a:xfrm>
          <a:prstGeom prst="ellipse">
            <a:avLst/>
          </a:prstGeom>
          <a:solidFill>
            <a:srgbClr val="F1EBF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4048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A35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060704" y="2386584"/>
            <a:ext cx="5980176" cy="334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「選取類型」旁邊的齒輪 →「</a:t>
            </a:r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網頁應用程式</a:t>
            </a:r>
            <a:pPr algn="l"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」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48640" y="2916936"/>
            <a:ext cx="329184" cy="329184"/>
          </a:xfrm>
          <a:prstGeom prst="ellipse">
            <a:avLst/>
          </a:prstGeom>
          <a:solidFill>
            <a:srgbClr val="F1EBF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29169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A35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060704" y="2898648"/>
            <a:ext cx="5980176" cy="6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照右邊設定好，按「</a:t>
            </a:r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部署</a:t>
            </a:r>
            <a:pPr algn="l"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」（第一次可能會再問一次授權，一樣允許）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0" y="3676904"/>
            <a:ext cx="329184" cy="329184"/>
          </a:xfrm>
          <a:prstGeom prst="ellipse">
            <a:avLst/>
          </a:prstGeom>
          <a:solidFill>
            <a:srgbClr val="F1EBF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36769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A35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060704" y="3658616"/>
            <a:ext cx="5980176" cy="6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複製「網頁應用程式」網址：</a:t>
            </a:r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6A35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https://script.google.com/macros/s/…/exec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7635240" y="1874520"/>
            <a:ext cx="4023360" cy="2926080"/>
          </a:xfrm>
          <a:prstGeom prst="roundRect">
            <a:avLst>
              <a:gd name="adj" fmla="val 5000"/>
            </a:avLst>
          </a:prstGeom>
          <a:solidFill>
            <a:srgbClr val="F1EB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909560" y="205740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6A35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新增部署作業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7909560" y="2514600"/>
            <a:ext cx="3474720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2700">
            <a:solidFill>
              <a:srgbClr val="E4D9F5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092440" y="2514600"/>
            <a:ext cx="1371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F586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類型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9464040" y="2514600"/>
            <a:ext cx="1737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網頁應用程式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7909560" y="3227832"/>
            <a:ext cx="3474720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2700">
            <a:solidFill>
              <a:srgbClr val="E4D9F5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092440" y="3227832"/>
            <a:ext cx="1371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F586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執行身分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9464040" y="3227832"/>
            <a:ext cx="1737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我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7909560" y="3941064"/>
            <a:ext cx="3474720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2700">
            <a:solidFill>
              <a:srgbClr val="6A35A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092440" y="3941064"/>
            <a:ext cx="1371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F586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誰可以存取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9464040" y="3941064"/>
            <a:ext cx="1737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6A35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所有人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7635240" y="484632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586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英文介面：Execute as → Me，Who has access → Anyone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548640" y="5212080"/>
            <a:ext cx="11109960" cy="566928"/>
          </a:xfrm>
          <a:prstGeom prst="roundRect">
            <a:avLst>
              <a:gd name="adj" fmla="val 19355"/>
            </a:avLst>
          </a:prstGeom>
          <a:solidFill>
            <a:srgbClr val="F1EBFA"/>
          </a:solidFill>
          <a:ln/>
        </p:spPr>
      </p:sp>
      <p:pic>
        <p:nvPicPr>
          <p:cNvPr id="3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312664"/>
            <a:ext cx="365760" cy="365760"/>
          </a:xfrm>
          <a:prstGeom prst="rect">
            <a:avLst/>
          </a:prstGeom>
        </p:spPr>
      </p:pic>
      <p:sp>
        <p:nvSpPr>
          <p:cNvPr id="33" name="Text 30"/>
          <p:cNvSpPr txBox="1"/>
          <p:nvPr/>
        </p:nvSpPr>
        <p:spPr>
          <a:xfrm>
            <a:off x="1280160" y="5349240"/>
            <a:ext cx="10241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D2A5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「所有人」只是讓網址打得開：看票、改票都要 </a:t>
            </a:r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D2A5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OWNER_KEY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D2A5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；朋友的分享連結只看得到你給他的那幾張。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749808" cy="749808"/>
          </a:xfrm>
          <a:prstGeom prst="ellipse">
            <a:avLst/>
          </a:prstGeom>
          <a:solidFill>
            <a:srgbClr val="6A35A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7498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4206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6A35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第二步　網站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508760" y="676656"/>
            <a:ext cx="101342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3000" b="1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產生網站，放上 Cloudflare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1243584"/>
            <a:ext cx="101342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5F586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網站產生器幫你填好後端網址，拖進去一次就好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892300"/>
            <a:ext cx="329184" cy="329184"/>
          </a:xfrm>
          <a:prstGeom prst="ellipse">
            <a:avLst/>
          </a:prstGeom>
          <a:solidFill>
            <a:srgbClr val="F1EBF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8923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A35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060704" y="1879600"/>
            <a:ext cx="5980176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 xml:space="preserve">打開網站產生器 </a:t>
            </a:r>
            <a:r>
              <a:rPr lang="en-US" sz="1500" b="1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tickets-37z.pages.dev/kit.html</a:t>
            </a:r>
            <a:r>
              <a:rPr lang="en-US" sz="1500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 xml:space="preserve">，貼上 </a:t>
            </a:r>
            <a:r>
              <a:rPr lang="en-US" sz="1500" b="1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/exec 網址</a:t>
            </a:r>
            <a:r>
              <a:rPr lang="en-US" sz="1500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 xml:space="preserve"> →「</a:t>
            </a:r>
            <a:r>
              <a:rPr lang="en-US" sz="1500" b="1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下載你的網站</a:t>
            </a:r>
            <a:r>
              <a:rPr lang="en-US" sz="1500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」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2654300"/>
            <a:ext cx="329184" cy="329184"/>
          </a:xfrm>
          <a:prstGeom prst="ellipse">
            <a:avLst/>
          </a:prstGeom>
          <a:solidFill>
            <a:srgbClr val="F1EBF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6543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A35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060704" y="2641600"/>
            <a:ext cx="5980176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 xml:space="preserve">解壓縮會得到 </a:t>
            </a:r>
            <a:r>
              <a:rPr lang="en-US" sz="1500" b="1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web 資料夾</a:t>
            </a:r>
            <a:r>
              <a:rPr lang="en-US" sz="1500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，裡面已經填好你的後端網址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48640" y="3149600"/>
            <a:ext cx="329184" cy="329184"/>
          </a:xfrm>
          <a:prstGeom prst="ellipse">
            <a:avLst/>
          </a:prstGeom>
          <a:solidFill>
            <a:srgbClr val="F1EBF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3149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A35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060704" y="3136900"/>
            <a:ext cx="5980176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 xml:space="preserve">登入 </a:t>
            </a:r>
            <a:r>
              <a:rPr lang="en-US" sz="1500" b="1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dash.cloudflare.com</a:t>
            </a:r>
            <a:r>
              <a:rPr lang="en-US" sz="1500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（沒有帳號就免費註冊）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548640" y="3644900"/>
            <a:ext cx="329184" cy="329184"/>
          </a:xfrm>
          <a:prstGeom prst="ellipse">
            <a:avLst/>
          </a:prstGeom>
          <a:solidFill>
            <a:srgbClr val="F1EBF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36449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A35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060704" y="3632200"/>
            <a:ext cx="5980176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左邊「</a:t>
            </a:r>
            <a:r>
              <a:rPr lang="en-US" sz="1500" b="1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Workers 和 Pages</a:t>
            </a:r>
            <a:r>
              <a:rPr lang="en-US" sz="1500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」→「</a:t>
            </a:r>
            <a:r>
              <a:rPr lang="en-US" sz="1500" b="1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建立應用程式</a:t>
            </a:r>
            <a:r>
              <a:rPr lang="en-US" sz="1500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」</a:t>
            </a:r>
            <a:endParaRPr lang="en-US" sz="15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 選 Pages、用直接上傳（拖放檔案）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548640" y="4406900"/>
            <a:ext cx="329184" cy="329184"/>
          </a:xfrm>
          <a:prstGeom prst="ellipse">
            <a:avLst/>
          </a:prstGeom>
          <a:solidFill>
            <a:srgbClr val="F1EB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44069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A35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060704" y="4394200"/>
            <a:ext cx="5980176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 xml:space="preserve">專案名稱取英文小寫，例如 </a:t>
            </a:r>
            <a:r>
              <a:rPr lang="en-US" sz="1500" b="1" dirty="0">
                <a:solidFill>
                  <a:srgbClr val="6A35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my-tickets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7635240" y="1874520"/>
            <a:ext cx="4023360" cy="2286000"/>
          </a:xfrm>
          <a:prstGeom prst="roundRect">
            <a:avLst>
              <a:gd name="adj" fmla="val 6400"/>
            </a:avLst>
          </a:prstGeom>
          <a:solidFill>
            <a:srgbClr val="F1EBFA"/>
          </a:solidFill>
          <a:ln/>
        </p:spPr>
      </p:sp>
      <p:sp>
        <p:nvSpPr>
          <p:cNvPr id="23" name="Shape 21"/>
          <p:cNvSpPr/>
          <p:nvPr/>
        </p:nvSpPr>
        <p:spPr>
          <a:xfrm>
            <a:off x="7909560" y="2103120"/>
            <a:ext cx="603504" cy="603504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8366" y="2241926"/>
            <a:ext cx="325892" cy="325892"/>
          </a:xfrm>
          <a:prstGeom prst="rect">
            <a:avLst/>
          </a:prstGeom>
        </p:spPr>
      </p:pic>
      <p:sp>
        <p:nvSpPr>
          <p:cNvPr id="25" name="Text 22"/>
          <p:cNvSpPr txBox="1"/>
          <p:nvPr/>
        </p:nvSpPr>
        <p:spPr>
          <a:xfrm>
            <a:off x="8686800" y="2103120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web 資料夾</a:t>
            </a:r>
            <a:endParaRPr lang="en-US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8686800" y="246888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5F586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已經填好後端網址，整個拖進去</a:t>
            </a:r>
            <a:endParaRPr lang="en-US" sz="1250" dirty="0"/>
          </a:p>
        </p:txBody>
      </p:sp>
      <p:sp>
        <p:nvSpPr>
          <p:cNvPr id="27" name="Shape 24"/>
          <p:cNvSpPr/>
          <p:nvPr/>
        </p:nvSpPr>
        <p:spPr>
          <a:xfrm>
            <a:off x="9646920" y="2926080"/>
            <a:ext cx="914" cy="411480"/>
          </a:xfrm>
          <a:prstGeom prst="line">
            <a:avLst/>
          </a:prstGeom>
          <a:noFill/>
          <a:ln w="25400">
            <a:solidFill>
              <a:srgbClr val="6A35A8"/>
            </a:solidFill>
            <a:prstDash val="solid"/>
            <a:tailEnd type="triangle"/>
          </a:ln>
        </p:spPr>
      </p:sp>
      <p:sp>
        <p:nvSpPr>
          <p:cNvPr id="28" name="Shape 25"/>
          <p:cNvSpPr/>
          <p:nvPr/>
        </p:nvSpPr>
        <p:spPr>
          <a:xfrm>
            <a:off x="7909560" y="3383280"/>
            <a:ext cx="347472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E4D9F5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7909560" y="338328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1A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https://my-tickets.pages.dev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7635240" y="4389120"/>
            <a:ext cx="4023360" cy="779272"/>
          </a:xfrm>
          <a:prstGeom prst="roundRect">
            <a:avLst>
              <a:gd name="adj" fmla="val 14081"/>
            </a:avLst>
          </a:prstGeom>
          <a:solidFill>
            <a:srgbClr val="F1EBFA"/>
          </a:solidFill>
          <a:ln/>
        </p:spPr>
      </p:sp>
      <p:pic>
        <p:nvPicPr>
          <p:cNvPr id="3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4595876"/>
            <a:ext cx="365760" cy="365760"/>
          </a:xfrm>
          <a:prstGeom prst="rect">
            <a:avLst/>
          </a:prstGeom>
        </p:spPr>
      </p:pic>
      <p:sp>
        <p:nvSpPr>
          <p:cNvPr id="32" name="Text 28"/>
          <p:cNvSpPr txBox="1"/>
          <p:nvPr/>
        </p:nvSpPr>
        <p:spPr>
          <a:xfrm>
            <a:off x="8366760" y="4526280"/>
            <a:ext cx="3154680" cy="504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D2A5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記下這個網址，第三步要打開它。</a:t>
            </a:r>
            <a:endParaRPr lang="en-US" sz="14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D2A5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分享短網址 App 會自己設好。</a:t>
            </a:r>
            <a:endParaRPr lang="en-US" sz="1400" dirty="0"/>
          </a:p>
        </p:txBody>
      </p:sp>
      <p:sp>
        <p:nvSpPr>
          <p:cNvPr id="95" name="Shape 6b"/>
          <p:cNvSpPr/>
          <p:nvPr/>
        </p:nvSpPr>
        <p:spPr>
          <a:xfrm>
            <a:off x="548640" y="4902200"/>
            <a:ext cx="329184" cy="329184"/>
          </a:xfrm>
          <a:prstGeom prst="ellipse">
            <a:avLst/>
          </a:prstGeom>
          <a:solidFill>
            <a:srgbClr val="F1EBFA"/>
          </a:solidFill>
          <a:ln/>
        </p:spPr>
      </p:sp>
      <p:sp>
        <p:nvSpPr>
          <p:cNvPr id="96" name="Text 6n"/>
          <p:cNvSpPr txBox="1"/>
          <p:nvPr/>
        </p:nvSpPr>
        <p:spPr>
          <a:xfrm>
            <a:off x="548640" y="49022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A35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</a:t>
            </a:r>
            <a:endParaRPr lang="en-US" sz="1300" dirty="0"/>
          </a:p>
        </p:txBody>
      </p:sp>
      <p:sp>
        <p:nvSpPr>
          <p:cNvPr id="97" name="Text 6t"/>
          <p:cNvSpPr txBox="1"/>
          <p:nvPr/>
        </p:nvSpPr>
        <p:spPr>
          <a:xfrm>
            <a:off x="1060704" y="4889500"/>
            <a:ext cx="5980176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 xml:space="preserve">把整個 </a:t>
            </a:r>
            <a:r>
              <a:rPr lang="en-US" sz="1500" b="1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web 資料夾</a:t>
            </a:r>
            <a:r>
              <a:rPr lang="en-US" sz="1500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拖進去 →「</a:t>
            </a:r>
            <a:r>
              <a:rPr lang="en-US" sz="1500" b="1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部署</a:t>
            </a:r>
            <a:r>
              <a:rPr lang="en-US" sz="1500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」，就拿到你的網址</a:t>
            </a:r>
            <a:endParaRPr lang="en-US" sz="1500" dirty="0"/>
          </a:p>
        </p:txBody>
      </p:sp>
      <p:sp>
        <p:nvSpPr>
          <p:cNvPr id="90" name="EN Note"/>
          <p:cNvSpPr txBox="1"/>
          <p:nvPr/>
        </p:nvSpPr>
        <p:spPr>
          <a:xfrm>
            <a:off x="1066800" y="5384800"/>
            <a:ext cx="59817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586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英文介面：Workers &amp; Pages → Create application → Pages → Upload assets → Deploy site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749808" cy="749808"/>
          </a:xfrm>
          <a:prstGeom prst="ellipse">
            <a:avLst/>
          </a:prstGeom>
          <a:solidFill>
            <a:srgbClr val="6A35A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7498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4206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6A35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第三步　打開你的網址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508760" y="676656"/>
            <a:ext cx="101342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3000" b="1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貼上存取碼和金鑰，加到主畫面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1243584"/>
            <a:ext cx="101342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5F586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之後打開就是你自己的票券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854200"/>
            <a:ext cx="329184" cy="329184"/>
          </a:xfrm>
          <a:prstGeom prst="ellipse">
            <a:avLst/>
          </a:prstGeom>
          <a:solidFill>
            <a:srgbClr val="F1EBF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8542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A35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060704" y="1841500"/>
            <a:ext cx="6071616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電腦瀏覽器打開你的網址 → 按「</a:t>
            </a:r>
            <a:r>
              <a:rPr lang="en-US" sz="1500" b="1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貼上存取碼</a:t>
            </a:r>
            <a:r>
              <a:rPr lang="en-US" sz="1500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」</a:t>
            </a:r>
            <a:endParaRPr lang="en-US" sz="15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 xml:space="preserve">貼上 </a:t>
            </a:r>
            <a:r>
              <a:rPr lang="en-US" sz="1500" b="1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OWNER_KEY</a:t>
            </a:r>
            <a:r>
              <a:rPr lang="en-US" sz="1500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 xml:space="preserve"> →「</a:t>
            </a:r>
            <a:r>
              <a:rPr lang="en-US" sz="1500" b="1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儲存</a:t>
            </a:r>
            <a:r>
              <a:rPr lang="en-US" sz="1500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」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2578100"/>
            <a:ext cx="329184" cy="329184"/>
          </a:xfrm>
          <a:prstGeom prst="ellipse">
            <a:avLst/>
          </a:prstGeom>
          <a:solidFill>
            <a:srgbClr val="F1EBF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5781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A35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060704" y="2565400"/>
            <a:ext cx="6071616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 xml:space="preserve">申請辨識金鑰（免費）：打開 </a:t>
            </a:r>
            <a:r>
              <a:rPr lang="en-US" sz="1500" b="1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aistudio.google.com/apikey</a:t>
            </a:r>
            <a:endParaRPr lang="en-US" sz="15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按「</a:t>
            </a:r>
            <a:r>
              <a:rPr lang="en-US" sz="1500" b="1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建立 API 金鑰</a:t>
            </a:r>
            <a:r>
              <a:rPr lang="en-US" sz="1500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 xml:space="preserve">」，複製 </a:t>
            </a:r>
            <a:r>
              <a:rPr lang="en-US" sz="1500" b="1" dirty="0">
                <a:solidFill>
                  <a:srgbClr val="6A35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AIza</a:t>
            </a:r>
            <a:r>
              <a:rPr lang="en-US" sz="1500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 xml:space="preserve"> 開頭那串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48640" y="3302000"/>
            <a:ext cx="329184" cy="329184"/>
          </a:xfrm>
          <a:prstGeom prst="ellipse">
            <a:avLst/>
          </a:prstGeom>
          <a:solidFill>
            <a:srgbClr val="F1EBF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33020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A35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060704" y="3289300"/>
            <a:ext cx="6071616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回到 App 貼進「</a:t>
            </a:r>
            <a:r>
              <a:rPr lang="en-US" sz="1500" b="1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辨識金鑰</a:t>
            </a:r>
            <a:r>
              <a:rPr lang="en-US" sz="1500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」→「</a:t>
            </a:r>
            <a:r>
              <a:rPr lang="en-US" sz="1500" b="1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儲存金鑰</a:t>
            </a:r>
            <a:r>
              <a:rPr lang="en-US" sz="1500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」</a:t>
            </a:r>
            <a:endParaRPr lang="en-US" sz="15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（想用 Claude 也可以：在同一格選 Claude）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548640" y="4025900"/>
            <a:ext cx="329184" cy="329184"/>
          </a:xfrm>
          <a:prstGeom prst="ellipse">
            <a:avLst/>
          </a:prstGeom>
          <a:solidFill>
            <a:srgbClr val="F1EBF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40259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A35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060704" y="4013200"/>
            <a:ext cx="6071616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電腦上會出現「</a:t>
            </a:r>
            <a:r>
              <a:rPr lang="en-US" sz="1500" b="1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換到另一台裝置</a:t>
            </a:r>
            <a:r>
              <a:rPr lang="en-US" sz="1500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」的 QR</a:t>
            </a:r>
            <a:endParaRPr lang="en-US" sz="15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用手機掃一下，手機就設定好了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548640" y="4749800"/>
            <a:ext cx="329184" cy="329184"/>
          </a:xfrm>
          <a:prstGeom prst="ellipse">
            <a:avLst/>
          </a:prstGeom>
          <a:solidFill>
            <a:srgbClr val="F1EB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47498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A35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060704" y="4737100"/>
            <a:ext cx="6071616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 xml:space="preserve">加到主畫面：iPhone 用 </a:t>
            </a:r>
            <a:r>
              <a:rPr lang="en-US" sz="1500" b="1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Safari</a:t>
            </a:r>
            <a:r>
              <a:rPr lang="en-US" sz="1500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 xml:space="preserve"> 的分享鈕 →「加入主畫面」</a:t>
            </a:r>
            <a:endParaRPr lang="en-US" sz="15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 xml:space="preserve">Android 用 </a:t>
            </a:r>
            <a:r>
              <a:rPr lang="en-US" sz="1500" b="1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Chrome</a:t>
            </a:r>
            <a:r>
              <a:rPr lang="en-US" sz="1500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 xml:space="preserve"> 選單 →「安裝應用程式」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7632700" y="4927600"/>
            <a:ext cx="40259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586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第一次打開時，App 會一步一步帶你做</a:t>
            </a:r>
            <a:endParaRPr lang="en-US" sz="1200" dirty="0"/>
          </a:p>
        </p:txBody>
      </p:sp>
      <p:sp>
        <p:nvSpPr>
          <p:cNvPr id="101" name="Card Bg"/>
          <p:cNvSpPr/>
          <p:nvPr/>
        </p:nvSpPr>
        <p:spPr>
          <a:xfrm>
            <a:off x="7635240" y="1874520"/>
            <a:ext cx="4023360" cy="2926080"/>
          </a:xfrm>
          <a:prstGeom prst="roundRect">
            <a:avLst>
              <a:gd name="adj" fmla="val 5000"/>
            </a:avLst>
          </a:prstGeom>
          <a:solidFill>
            <a:srgbClr val="F1EBFA"/>
          </a:solidFill>
          <a:ln/>
        </p:spPr>
      </p:sp>
      <p:sp>
        <p:nvSpPr>
          <p:cNvPr id="102" name="Card Title"/>
          <p:cNvSpPr txBox="1"/>
          <p:nvPr/>
        </p:nvSpPr>
        <p:spPr>
          <a:xfrm>
            <a:off x="7909560" y="205740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6A35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打開網址後會依序看到</a:t>
            </a:r>
            <a:endParaRPr lang="en-US" sz="1400" dirty="0"/>
          </a:p>
        </p:txBody>
      </p:sp>
      <p:sp>
        <p:nvSpPr>
          <p:cNvPr id="110" name="Row0"/>
          <p:cNvSpPr/>
          <p:nvPr/>
        </p:nvSpPr>
        <p:spPr>
          <a:xfrm>
            <a:off x="7909560" y="2514600"/>
            <a:ext cx="3474720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2700">
            <a:solidFill>
              <a:srgbClr val="E4D9F5"/>
            </a:solidFill>
            <a:prstDash val="solid"/>
          </a:ln>
        </p:spPr>
      </p:sp>
      <p:sp>
        <p:nvSpPr>
          <p:cNvPr id="111" name="Row0 Key"/>
          <p:cNvSpPr txBox="1"/>
          <p:nvPr/>
        </p:nvSpPr>
        <p:spPr>
          <a:xfrm>
            <a:off x="8092440" y="2514600"/>
            <a:ext cx="1371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F586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貼上存取碼</a:t>
            </a:r>
            <a:endParaRPr lang="en-US" sz="1300" dirty="0"/>
          </a:p>
        </p:txBody>
      </p:sp>
      <p:sp>
        <p:nvSpPr>
          <p:cNvPr id="112" name="Row0 Val"/>
          <p:cNvSpPr txBox="1"/>
          <p:nvPr/>
        </p:nvSpPr>
        <p:spPr>
          <a:xfrm>
            <a:off x="9464040" y="2514600"/>
            <a:ext cx="1737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OWNER_KEY</a:t>
            </a:r>
            <a:endParaRPr lang="en-US" sz="1600" dirty="0"/>
          </a:p>
        </p:txBody>
      </p:sp>
      <p:sp>
        <p:nvSpPr>
          <p:cNvPr id="113" name="Row1"/>
          <p:cNvSpPr/>
          <p:nvPr/>
        </p:nvSpPr>
        <p:spPr>
          <a:xfrm>
            <a:off x="7909560" y="3225800"/>
            <a:ext cx="3474720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2700">
            <a:solidFill>
              <a:srgbClr val="E4D9F5"/>
            </a:solidFill>
            <a:prstDash val="solid"/>
          </a:ln>
        </p:spPr>
      </p:sp>
      <p:sp>
        <p:nvSpPr>
          <p:cNvPr id="114" name="Row1 Key"/>
          <p:cNvSpPr txBox="1"/>
          <p:nvPr/>
        </p:nvSpPr>
        <p:spPr>
          <a:xfrm>
            <a:off x="8092440" y="3225800"/>
            <a:ext cx="1371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F586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辨識金鑰</a:t>
            </a:r>
            <a:endParaRPr lang="en-US" sz="1300" dirty="0"/>
          </a:p>
        </p:txBody>
      </p:sp>
      <p:sp>
        <p:nvSpPr>
          <p:cNvPr id="115" name="Row1 Val"/>
          <p:cNvSpPr txBox="1"/>
          <p:nvPr/>
        </p:nvSpPr>
        <p:spPr>
          <a:xfrm>
            <a:off x="9464040" y="3225800"/>
            <a:ext cx="1737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AIza…（Gemini）</a:t>
            </a:r>
            <a:endParaRPr lang="en-US" sz="1600" dirty="0"/>
          </a:p>
        </p:txBody>
      </p:sp>
      <p:sp>
        <p:nvSpPr>
          <p:cNvPr id="116" name="Row2"/>
          <p:cNvSpPr/>
          <p:nvPr/>
        </p:nvSpPr>
        <p:spPr>
          <a:xfrm>
            <a:off x="7909560" y="3937000"/>
            <a:ext cx="3474720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2700">
            <a:solidFill>
              <a:srgbClr val="E4D9F5"/>
            </a:solidFill>
            <a:prstDash val="solid"/>
          </a:ln>
        </p:spPr>
      </p:sp>
      <p:sp>
        <p:nvSpPr>
          <p:cNvPr id="117" name="Row2 Key"/>
          <p:cNvSpPr txBox="1"/>
          <p:nvPr/>
        </p:nvSpPr>
        <p:spPr>
          <a:xfrm>
            <a:off x="8092440" y="3937000"/>
            <a:ext cx="1371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F586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換到另一台裝置</a:t>
            </a:r>
            <a:endParaRPr lang="en-US" sz="1300" dirty="0"/>
          </a:p>
        </p:txBody>
      </p:sp>
      <p:sp>
        <p:nvSpPr>
          <p:cNvPr id="118" name="Row2 Val"/>
          <p:cNvSpPr txBox="1"/>
          <p:nvPr/>
        </p:nvSpPr>
        <p:spPr>
          <a:xfrm>
            <a:off x="9464040" y="3937000"/>
            <a:ext cx="1737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手機掃 QR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3200" b="1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開始用吧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5F586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匯入：按最下面的 ＋ 選截圖，背景自動讀出商家、券名、到期日和序號，列表上方出現「辨識好了」再確認存入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566160" cy="3977640"/>
          </a:xfrm>
          <a:prstGeom prst="roundRect">
            <a:avLst>
              <a:gd name="adj" fmla="val 4103"/>
            </a:avLst>
          </a:prstGeom>
          <a:solidFill>
            <a:srgbClr val="F1EBFA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7222" y="1874520"/>
            <a:ext cx="1668997" cy="36118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85800" y="58064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依到期日排好，快到期的在最上面</a:t>
            </a:r>
            <a:endParaRPr lang="en-US" sz="13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搜尋框旁的數字是還能用的張數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4320540" y="1691640"/>
            <a:ext cx="3566160" cy="3977640"/>
          </a:xfrm>
          <a:prstGeom prst="roundRect">
            <a:avLst>
              <a:gd name="adj" fmla="val 4103"/>
            </a:avLst>
          </a:prstGeom>
          <a:solidFill>
            <a:srgbClr val="F1EBFA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69122" y="1874520"/>
            <a:ext cx="1668997" cy="361188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457700" y="58064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點進去：截圖可以放大、轉橫的</a:t>
            </a:r>
            <a:endParaRPr lang="en-US" sz="13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用掉了按上面的「標記已使用」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8092440" y="1691640"/>
            <a:ext cx="3566160" cy="3977640"/>
          </a:xfrm>
          <a:prstGeom prst="roundRect">
            <a:avLst>
              <a:gd name="adj" fmla="val 4103"/>
            </a:avLst>
          </a:prstGeom>
          <a:solidFill>
            <a:srgbClr val="F1EBFA"/>
          </a:solidFill>
          <a:ln/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41022" y="1874520"/>
            <a:ext cx="1668997" cy="361188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8229600" y="58064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分享給朋友：他不用裝 App，用掉按一下，你這邊就知道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3200" b="1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選用功能，還有之後的更新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5F586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前兩個不設也能正常用；有新版本時 App 會自己提醒你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566160" cy="4114800"/>
          </a:xfrm>
          <a:prstGeom prst="roundRect">
            <a:avLst>
              <a:gd name="adj" fmla="val 4103"/>
            </a:avLst>
          </a:prstGeom>
          <a:solidFill>
            <a:srgbClr val="F1EBFA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201168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0178" y="2158898"/>
            <a:ext cx="345643" cy="34564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22960" y="2788920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800" b="1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Discord 通知＋到期提醒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291840"/>
            <a:ext cx="301752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D354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Discord 建一個自己的伺服器和頻道 →「編輯頻道 → 整合 → Webhook → 新 Webhook」→ 複製網址。指令碼屬性新增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6A35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DISCORD_WEBHOOK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D354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貼上網址，再執行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6A35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testNotify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D354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試發一則。之後朋友用掉會通知，到期前 10 天起每天早上 9 點提醒。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320540" y="1783080"/>
            <a:ext cx="3566160" cy="4114800"/>
          </a:xfrm>
          <a:prstGeom prst="roundRect">
            <a:avLst>
              <a:gd name="adj" fmla="val 4103"/>
            </a:avLst>
          </a:prstGeom>
          <a:solidFill>
            <a:srgbClr val="F1EBFA"/>
          </a:solidFill>
          <a:ln/>
        </p:spPr>
      </p:sp>
      <p:sp>
        <p:nvSpPr>
          <p:cNvPr id="10" name="Shape 7"/>
          <p:cNvSpPr/>
          <p:nvPr/>
        </p:nvSpPr>
        <p:spPr>
          <a:xfrm>
            <a:off x="4594860" y="201168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2078" y="2158898"/>
            <a:ext cx="345643" cy="345643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594860" y="2788920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800" b="1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自動匯入</a:t>
            </a:r>
            <a:endParaRPr lang="en-US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4594860" y="3291840"/>
            <a:ext cx="301752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D354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雲端硬碟開一個資料夾（例如「票券上傳區」），把網址 folders/ 後面那一串填進指令碼屬性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6A35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SOURCE_FOLDER_ID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D354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，執行一次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6A35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startAutoImport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D354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。之後手機截圖存進那個資料夾就好，每 15 分鐘自動辨識。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092440" y="1783080"/>
            <a:ext cx="3566160" cy="4114800"/>
          </a:xfrm>
          <a:prstGeom prst="roundRect">
            <a:avLst>
              <a:gd name="adj" fmla="val 4103"/>
            </a:avLst>
          </a:prstGeom>
          <a:solidFill>
            <a:srgbClr val="F1EBFA"/>
          </a:solidFill>
          <a:ln/>
        </p:spPr>
      </p:sp>
      <p:sp>
        <p:nvSpPr>
          <p:cNvPr id="15" name="Shape 11"/>
          <p:cNvSpPr/>
          <p:nvPr/>
        </p:nvSpPr>
        <p:spPr>
          <a:xfrm>
            <a:off x="8366760" y="201168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13978" y="2158898"/>
            <a:ext cx="345643" cy="345643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366760" y="2788920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800" b="1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有新版本時</a:t>
            </a:r>
            <a:endParaRPr lang="en-US" sz="1800" dirty="0"/>
          </a:p>
        </p:txBody>
      </p:sp>
      <p:sp>
        <p:nvSpPr>
          <p:cNvPr id="18" name="Text 13"/>
          <p:cNvSpPr txBox="1"/>
          <p:nvPr/>
        </p:nvSpPr>
        <p:spPr>
          <a:xfrm>
            <a:off x="8366760" y="3291840"/>
            <a:ext cx="301752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D354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App 最上面會出現「有新版本」，點開看每一版改了什麼。後端有改時：Code.gs 換成新的 →「部署 → 管理部署作業 → 鉛筆 → 新版本」。網站：App「更新」頁按「</a:t>
            </a:r>
            <a:r>
              <a:rPr lang="en-US" sz="1400" b="1" dirty="0">
                <a:solidFill>
                  <a:srgbClr val="3D354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只下載網站</a:t>
            </a:r>
            <a:r>
              <a:rPr lang="en-US" sz="1400" dirty="0">
                <a:solidFill>
                  <a:srgbClr val="3D354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」，到 Cloudflare 專案右上角「</a:t>
            </a:r>
            <a:r>
              <a:rPr lang="en-US" sz="1400" b="1" dirty="0">
                <a:solidFill>
                  <a:srgbClr val="3D354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建立部署</a:t>
            </a:r>
            <a:r>
              <a:rPr lang="en-US" sz="1400" dirty="0">
                <a:solidFill>
                  <a:srgbClr val="3D354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」拖進去。最後按「強制更新」。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548640" y="6126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586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更完整的說明在壓縮檔裡的 README.md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3200" b="1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卡住的時候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5F586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照畫面上的字找原因</a:t>
            </a:r>
            <a:endParaRPr lang="en-US" sz="15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109960" cy="4540250"/>
        </p:xfrm>
        <a:graphic>
          <a:graphicData uri="http://schemas.openxmlformats.org/drawingml/2006/table">
            <a:tbl>
              <a:tblPr/>
              <a:tblGrid>
                <a:gridCol w="4206240"/>
                <a:gridCol w="6903720"/>
              </a:tblGrid>
              <a:tr h="412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看到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64592" marR="164592" marT="54864" marB="54864" anchor="ctr">
                    <a:lnL w="12700" cap="flat" cmpd="sng" algn="ctr">
                      <a:solidFill>
                        <a:srgbClr val="E4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A35A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多半是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64592" marR="164592" marT="54864" marB="54864" anchor="ctr">
                    <a:lnL w="12700" cap="flat" cmpd="sng" algn="ctr">
                      <a:solidFill>
                        <a:srgbClr val="E4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A35A8"/>
                    </a:solidFill>
                  </a:tcPr>
                </a:tc>
              </a:tr>
              <a:tr h="412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E1A2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測試連線說「後端回傳的不是 JSON」</a:t>
                      </a:r>
                      <a:endParaRPr lang="en-US" sz="13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64592" marR="164592" marT="54864" marB="54864" anchor="ctr">
                    <a:lnL w="12700" cap="flat" cmpd="sng" algn="ctr">
                      <a:solidFill>
                        <a:srgbClr val="E4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E1A2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部署的「誰可以存取」不是「所有人」，或網址少了 /exec</a:t>
                      </a:r>
                      <a:endParaRPr lang="en-US" sz="13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64592" marR="164592" marT="54864" marB="54864" anchor="ctr">
                    <a:lnL w="12700" cap="flat" cmpd="sng" algn="ctr">
                      <a:solidFill>
                        <a:srgbClr val="E4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2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E1A2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測試連線說「存取碼不對」</a:t>
                      </a:r>
                      <a:endParaRPr lang="en-US" sz="13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64592" marR="164592" marT="54864" marB="54864" anchor="ctr">
                    <a:lnL w="12700" cap="flat" cmpd="sng" algn="ctr">
                      <a:solidFill>
                        <a:srgbClr val="E4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5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E1A2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OWNER_KEY 貼錯，或後端換了新的指令碼屬性</a:t>
                      </a:r>
                      <a:endParaRPr lang="en-US" sz="13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64592" marR="164592" marT="54864" marB="54864" anchor="ctr">
                    <a:lnL w="12700" cap="flat" cmpd="sng" algn="ctr">
                      <a:solidFill>
                        <a:srgbClr val="E4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5FC"/>
                    </a:solidFill>
                  </a:tcPr>
                </a:tc>
              </a:tr>
              <a:tr h="412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E1A2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匯入前說「還沒設定辨識金鑰」</a:t>
                      </a:r>
                      <a:endParaRPr lang="en-US" sz="13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64592" marR="164592" marT="54864" marB="54864" anchor="ctr">
                    <a:lnL w="12700" cap="flat" cmpd="sng" algn="ctr">
                      <a:solidFill>
                        <a:srgbClr val="E4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E1A2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到 App「設定 → 右上角鈴鐺 → 辨識金鑰」貼上</a:t>
                      </a:r>
                      <a:endParaRPr lang="en-US" sz="13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64592" marR="164592" marT="54864" marB="54864" anchor="ctr">
                    <a:lnL w="12700" cap="flat" cmpd="sng" algn="ctr">
                      <a:solidFill>
                        <a:srgbClr val="E4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2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E1A2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存金鑰時說「這支金鑰不能用」</a:t>
                      </a:r>
                      <a:endParaRPr lang="en-US" sz="13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64592" marR="164592" marT="54864" marB="54864" anchor="ctr">
                    <a:lnL w="12700" cap="flat" cmpd="sng" algn="ctr">
                      <a:solidFill>
                        <a:srgbClr val="E4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5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E1A2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回 aistudio.google.com/apikey 重新複製，前後不要多空白</a:t>
                      </a:r>
                      <a:endParaRPr lang="en-US" sz="13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64592" marR="164592" marT="54864" marB="54864" anchor="ctr">
                    <a:lnL w="12700" cap="flat" cmpd="sng" algn="ctr">
                      <a:solidFill>
                        <a:srgbClr val="E4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5FC"/>
                    </a:solidFill>
                  </a:tcPr>
                </a:tc>
              </a:tr>
              <a:tr h="412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E1A2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列表上方說「分享出去的連結現在打不開」</a:t>
                      </a:r>
                      <a:endParaRPr lang="en-US" sz="13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64592" marR="164592" marT="54864" marB="54864" anchor="ctr">
                    <a:lnL w="12700" cap="flat" cmpd="sng" algn="ctr">
                      <a:solidFill>
                        <a:srgbClr val="E4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E1A2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「設定 → 右上角鈴鐺 → 分享短網址」按「下載填好的網站」，再建立部署</a:t>
                      </a:r>
                      <a:endParaRPr lang="en-US" sz="13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64592" marR="164592" marT="54864" marB="54864" anchor="ctr">
                    <a:lnL w="12700" cap="flat" cmpd="sng" algn="ctr">
                      <a:solidFill>
                        <a:srgbClr val="E4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2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E1A2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朋友打開分享連結看到 Google 錯誤頁</a:t>
                      </a:r>
                      <a:endParaRPr lang="en-US" sz="13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64592" marR="164592" marT="54864" marB="54864" anchor="ctr">
                    <a:lnL w="12700" cap="flat" cmpd="sng" algn="ctr">
                      <a:solidFill>
                        <a:srgbClr val="E4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5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E1A2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還在用 Google 的長網址：看「設定 → 右上角鈴鐺 → 分享短網址」</a:t>
                      </a:r>
                      <a:endParaRPr lang="en-US" sz="13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64592" marR="164592" marT="54864" marB="54864" anchor="ctr">
                    <a:lnL w="12700" cap="flat" cmpd="sng" algn="ctr">
                      <a:solidFill>
                        <a:srgbClr val="E4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5FC"/>
                    </a:solidFill>
                  </a:tcPr>
                </a:tc>
              </a:tr>
              <a:tr h="412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E1A2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分享連結打開是空白或 404</a:t>
                      </a:r>
                      <a:endParaRPr lang="en-US" sz="13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64592" marR="164592" marT="54864" marB="54864" anchor="ctr">
                    <a:lnL w="12700" cap="flat" cmpd="sng" algn="ctr">
                      <a:solidFill>
                        <a:srgbClr val="E4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E1A2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部署後網址變了；或在指令碼屬性加 WEBAPP_URL（你的 /exec 網址）</a:t>
                      </a:r>
                      <a:endParaRPr lang="en-US" sz="13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64592" marR="164592" marT="54864" marB="54864" anchor="ctr">
                    <a:lnL w="12700" cap="flat" cmpd="sng" algn="ctr">
                      <a:solidFill>
                        <a:srgbClr val="E4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2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E1A2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辨識好的一直沒出現</a:t>
                      </a:r>
                      <a:endParaRPr lang="en-US" sz="13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64592" marR="164592" marT="54864" marB="54864" anchor="ctr">
                    <a:lnL w="12700" cap="flat" cmpd="sng" algn="ctr">
                      <a:solidFill>
                        <a:srgbClr val="E4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5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E1A2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列表上方寫「辨識中」就是還在跑；Gemini 額度滿了會等 15 分鐘</a:t>
                      </a:r>
                      <a:endParaRPr lang="en-US" sz="13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64592" marR="164592" marT="54864" marB="54864" anchor="ctr">
                    <a:lnL w="12700" cap="flat" cmpd="sng" algn="ctr">
                      <a:solidFill>
                        <a:srgbClr val="E4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5FC"/>
                    </a:solidFill>
                  </a:tcPr>
                </a:tc>
              </a:tr>
              <a:tr h="412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E1A2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匯入時說「存不進雲端硬碟」</a:t>
                      </a:r>
                      <a:endParaRPr lang="en-US" sz="13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64592" marR="164592" marT="54864" marB="54864" anchor="ctr">
                    <a:lnL w="12700" cap="flat" cmpd="sng" algn="ctr">
                      <a:solidFill>
                        <a:srgbClr val="E4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E1A2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FOLDER_ID 那個資料夾被刪了：把屬性清掉，再執行一次 setup</a:t>
                      </a:r>
                      <a:endParaRPr lang="en-US" sz="13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64592" marR="164592" marT="54864" marB="54864" anchor="ctr">
                    <a:lnL w="12700" cap="flat" cmpd="sng" algn="ctr">
                      <a:solidFill>
                        <a:srgbClr val="E4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2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E1A2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iPhone 上沒有「加入主畫面」</a:t>
                      </a:r>
                      <a:endParaRPr lang="en-US" sz="13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64592" marR="164592" marT="54864" marB="54864" anchor="ctr">
                    <a:lnL w="12700" cap="flat" cmpd="sng" algn="ctr">
                      <a:solidFill>
                        <a:srgbClr val="E4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5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E1A2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要用 Safari 打開，Chrome 沒有這個選項</a:t>
                      </a:r>
                      <a:endParaRPr lang="en-US" sz="13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64592" marR="164592" marT="54864" marB="54864" anchor="ctr">
                    <a:lnL w="12700" cap="flat" cmpd="sng" algn="ctr">
                      <a:solidFill>
                        <a:srgbClr val="E4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5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2B1B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86868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裝好了，開始收票吧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691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D9CC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最後記住這三件事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731520" y="2514600"/>
            <a:ext cx="658368" cy="658368"/>
          </a:xfrm>
          <a:prstGeom prst="ellipse">
            <a:avLst/>
          </a:prstGeom>
          <a:solidFill>
            <a:srgbClr val="3B2857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2945" y="2666025"/>
            <a:ext cx="355519" cy="355519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45920" y="2532888"/>
            <a:ext cx="6035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存取碼（OWNER_KEY）和「換到另一台裝置」的 QR 碼，等於你票券的鑰匙，只給自己的裝置。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731520" y="3520440"/>
            <a:ext cx="658368" cy="658368"/>
          </a:xfrm>
          <a:prstGeom prst="ellipse">
            <a:avLst/>
          </a:prstGeom>
          <a:solidFill>
            <a:srgbClr val="3B2857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945" y="3671865"/>
            <a:ext cx="355519" cy="355519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645920" y="3538728"/>
            <a:ext cx="6035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想給別人看看長什麼樣子：給他你的網站網址就好，他看到的是示範模式的範例票券。</a:t>
            </a:r>
            <a:endParaRPr lang="en-US" sz="1600" dirty="0"/>
          </a:p>
        </p:txBody>
      </p:sp>
      <p:sp>
        <p:nvSpPr>
          <p:cNvPr id="10" name="Shape 6"/>
          <p:cNvSpPr/>
          <p:nvPr/>
        </p:nvSpPr>
        <p:spPr>
          <a:xfrm>
            <a:off x="731520" y="4526280"/>
            <a:ext cx="658368" cy="658368"/>
          </a:xfrm>
          <a:prstGeom prst="ellipse">
            <a:avLst/>
          </a:prstGeom>
          <a:solidFill>
            <a:srgbClr val="3B2857"/>
          </a:solidFill>
          <a:ln/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2945" y="4677705"/>
            <a:ext cx="355519" cy="355519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645920" y="4544568"/>
            <a:ext cx="6035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資料都在你自己的 Google 帳號：試算表「票券資料」、資料夾「票券截圖」。</a:t>
            </a:r>
            <a:endParaRPr lang="en-US" sz="1600" dirty="0"/>
          </a:p>
        </p:txBody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49640" y="1828800"/>
            <a:ext cx="2926080" cy="292608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8549640" y="49377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票券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票券 安裝說明</dc:title>
  <dc:subject>PptxGenJS Presentation</dc:subject>
  <dc:creator>票券</dc:creator>
  <cp:lastModifiedBy>票券</cp:lastModifiedBy>
  <cp:revision>1</cp:revision>
  <dcterms:created xsi:type="dcterms:W3CDTF">2026-09-25T17:54:31Z</dcterms:created>
  <dcterms:modified xsi:type="dcterms:W3CDTF">2026-09-25T17:54:31Z</dcterms:modified>
</cp:coreProperties>
</file>